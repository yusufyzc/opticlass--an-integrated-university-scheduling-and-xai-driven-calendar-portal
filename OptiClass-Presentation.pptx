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85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417320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479792" y="1417320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8193024" y="1417320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766560" y="1984248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479792" y="1984248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8193024" y="1984248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6766560" y="2551176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7479792" y="2551176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193024" y="2551176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766560" y="3118104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479792" y="3118104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193024" y="3118104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66928" y="960120"/>
            <a:ext cx="566928" cy="566928"/>
          </a:xfrm>
          <a:prstGeom prst="ellipse">
            <a:avLst/>
          </a:prstGeom>
          <a:solidFill>
            <a:srgbClr val="0B4A5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1113191"/>
            <a:ext cx="260787" cy="26078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16916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OptiClass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521208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University Scheduling and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XAI-Driven Calendar Portal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20116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21208" y="39502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Berkay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Şimşek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Yusuf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Yazıcı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Thousands of Constraints at Once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 hold simultaneously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81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availability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202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92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capacity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58568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Semester-based conflicts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9689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2569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common courses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935224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2907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priority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502920" y="347472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0634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9"/>
          <p:cNvSpPr/>
          <p:nvPr/>
        </p:nvSpPr>
        <p:spPr>
          <a:xfrm>
            <a:off x="502920" y="36118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× 80 × 15 × 5 × 10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594360" y="40690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· courses · classrooms · days · time slots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combinations — impossible to verify by hand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800600" y="10058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EAF5F6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17043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“common course” trap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074920" y="1536192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courses must be placed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no valid slots remain later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conflict → re-plan everything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methods fail</a:t>
            </a:r>
            <a:endParaRPr lang="en-US" sz="14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0156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03520" y="3310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email / WhatsApp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untracked, not auditable</a:t>
            </a:r>
            <a:endParaRPr lang="en-US" sz="13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11480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0352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automated tools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“why this slot” → no trust, manual re-checking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One Integrated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20700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9019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instructors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984248" y="10515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20700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29968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Panel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029968" y="19019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 / super admin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465576" y="10515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20700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1296" y="1591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Chatbot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511296" y="19019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assistant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715768" y="2542032"/>
            <a:ext cx="0" cy="292608"/>
          </a:xfrm>
          <a:prstGeom prst="line">
            <a:avLst/>
          </a:prstGeom>
          <a:noFill/>
          <a:ln w="22225">
            <a:solidFill>
              <a:srgbClr val="5A717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1"/>
          <p:cNvSpPr/>
          <p:nvPr/>
        </p:nvSpPr>
        <p:spPr>
          <a:xfrm>
            <a:off x="502920" y="2907792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06343B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272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9992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— FastAPI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 ·  ~50 REST endpoints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715768" y="3685032"/>
            <a:ext cx="0" cy="274320"/>
          </a:xfrm>
          <a:prstGeom prst="line">
            <a:avLst/>
          </a:prstGeom>
          <a:noFill/>
          <a:ln w="22225">
            <a:solidFill>
              <a:srgbClr val="5A717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4"/>
          <p:cNvSpPr/>
          <p:nvPr/>
        </p:nvSpPr>
        <p:spPr>
          <a:xfrm>
            <a:off x="1417320" y="400507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418795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057400" y="40050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166360" y="10515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7FBFB"/>
          </a:solidFill>
          <a:ln w="15875">
            <a:solidFill>
              <a:srgbClr val="9FC4C9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17"/>
          <p:cNvSpPr/>
          <p:nvPr/>
        </p:nvSpPr>
        <p:spPr>
          <a:xfrm>
            <a:off x="5166360" y="1051560"/>
            <a:ext cx="3474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architecture diagram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Web / RASA → FastAPI → PostgreSQL ]</a:t>
            </a:r>
            <a:endParaRPr lang="en-US" sz="1100" dirty="0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BF9CE271-5920-2FA5-2DF7-59770D4BE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550" y="1131746"/>
            <a:ext cx="4097235" cy="3552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Phase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25296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9496" y="148132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courses first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1517904"/>
            <a:ext cx="164592" cy="164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84248" y="1051560"/>
            <a:ext cx="1225296" cy="1143000"/>
          </a:xfrm>
          <a:prstGeom prst="roundRect">
            <a:avLst>
              <a:gd name="adj" fmla="val 6400"/>
            </a:avLst>
          </a:prstGeom>
          <a:solidFill>
            <a:srgbClr val="EAF5F6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1984248" y="11704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020824" y="148132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after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151790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65576" y="1051560"/>
            <a:ext cx="1225296" cy="1143000"/>
          </a:xfrm>
          <a:prstGeom prst="roundRect">
            <a:avLst>
              <a:gd name="adj" fmla="val 6400"/>
            </a:avLst>
          </a:prstGeom>
          <a:solidFill>
            <a:srgbClr val="EAF5F6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/>
          <p:nvPr/>
        </p:nvSpPr>
        <p:spPr>
          <a:xfrm>
            <a:off x="3465576" y="117043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02152" y="148132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derived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data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2920" y="242316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count auto-calculated from priority values</a:t>
            </a:r>
            <a:endParaRPr lang="en-US" sz="1400" dirty="0"/>
          </a:p>
          <a:p>
            <a:pPr marL="685800" lvl="1" indent="-342900">
              <a:spcAft>
                <a:spcPts val="1000"/>
              </a:spcAft>
              <a:buSzPct val="100000"/>
              <a:buChar char="•"/>
            </a:pPr>
            <a:r>
              <a:rPr lang="tr-TR" sz="1400" dirty="0" err="1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tr-TR" sz="14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dirty="0" err="1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</a:t>
            </a:r>
            <a:r>
              <a:rPr lang="tr-TR" sz="14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</a:t>
            </a:r>
            <a:r>
              <a:rPr lang="en-US" sz="14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distinct priorities = 3 phases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 unlocks only after approval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 transitions, admin-approved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controlled, auditable process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166360" y="10515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7FBFB"/>
          </a:solidFill>
          <a:ln w="15875">
            <a:solidFill>
              <a:srgbClr val="9FC4C9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2"/>
          <p:cNvSpPr/>
          <p:nvPr/>
        </p:nvSpPr>
        <p:spPr>
          <a:xfrm>
            <a:off x="5166360" y="1051560"/>
            <a:ext cx="3474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phase banner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to Phase 2 →” button + calendar grid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red-X blocked slots ]</a:t>
            </a:r>
            <a:endParaRPr lang="en-US" sz="1100" dirty="0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136E30D5-7F50-9AC5-2349-8EA38498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660" y="399171"/>
            <a:ext cx="2234780" cy="45535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XAI: Explainable Suggestion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335024" cy="1188720"/>
          </a:xfrm>
          <a:prstGeom prst="roundRect">
            <a:avLst>
              <a:gd name="adj" fmla="val 6154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9496" y="168249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nodes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84248" y="1051560"/>
            <a:ext cx="1335024" cy="1188720"/>
          </a:xfrm>
          <a:prstGeom prst="roundRect">
            <a:avLst>
              <a:gd name="adj" fmla="val 6154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984248" y="11430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+ 4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20824" y="168249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 penalties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65576" y="1051560"/>
            <a:ext cx="1335024" cy="1188720"/>
          </a:xfrm>
          <a:prstGeom prst="roundRect">
            <a:avLst>
              <a:gd name="adj" fmla="val 6154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465576" y="11430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168249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0634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— 92%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F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available  ✓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F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classroom capacity  ✓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F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load  −3%  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= score (%) + step-by-step reasoning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covers single slots and full weekly generation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66360" y="10515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7FBFB"/>
          </a:solidFill>
          <a:ln w="15875">
            <a:solidFill>
              <a:srgbClr val="9FC4C9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166360" y="1051560"/>
            <a:ext cx="3474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accordion UI showing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score + decision path ]</a:t>
            </a:r>
            <a:endParaRPr lang="en-US" sz="1100" dirty="0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44A5222F-CEAD-1711-26E8-DAF9F0539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462" y="868497"/>
            <a:ext cx="2004234" cy="4206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Integration: Web + Chatbot + Audit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66928" cy="566928"/>
          </a:xfrm>
          <a:prstGeom prst="ellipse">
            <a:avLst/>
          </a:prstGeom>
          <a:solidFill>
            <a:srgbClr val="EAF5F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125035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051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audit log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for super admins · CSV export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04288"/>
            <a:ext cx="566928" cy="566928"/>
          </a:xfrm>
          <a:prstGeom prst="ellipse">
            <a:avLst/>
          </a:prstGeom>
          <a:solidFill>
            <a:srgbClr val="EAF5F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2457359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2585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NLU chatbot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trained intents · 24/7 guidance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rgbClr val="EAF5F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3664367"/>
            <a:ext cx="260787" cy="260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465576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instructors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submission · messaging · notifications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166360" y="105156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7FBFB"/>
          </a:solidFill>
          <a:ln w="15875">
            <a:solidFill>
              <a:srgbClr val="9FC4C9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9"/>
          <p:cNvSpPr/>
          <p:nvPr/>
        </p:nvSpPr>
        <p:spPr>
          <a:xfrm>
            <a:off x="5166360" y="1051560"/>
            <a:ext cx="3474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web dashboard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audit log screen ]</a:t>
            </a:r>
            <a:endParaRPr lang="en-US" sz="1100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03232660-D035-CC61-B3C0-969B0BF32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019386"/>
            <a:ext cx="4466494" cy="3429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Us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“Commercial tools produce a solution. We produce a solution, explain it, and manage the entire process end-to-end.”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8F1F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 / phase structures</a:t>
            </a:r>
            <a:endParaRPr lang="en-US" sz="125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customize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“Black box” optimization</a:t>
            </a:r>
            <a:endParaRPr lang="en-US" sz="125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results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platforms</a:t>
            </a:r>
            <a:endParaRPr lang="en-US" sz="125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instructor-facing experience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6276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0" y="15910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Dynamic N-phase system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66160" y="208483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count &amp; order derived from data, not hardcoded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276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15910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XAI decision tree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63640" y="208483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reasoning for every suggestion → trust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83280" y="31546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19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Integrated triple platform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66160" y="37764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Web + chatbot on one backend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31546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AF8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192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2940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End-to-end management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63640" y="37764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messaging, notifications, history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548640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028432" y="548640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315200" y="1115568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28432" y="1115568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315200" y="1682496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2C39A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8028432" y="1682496"/>
            <a:ext cx="603504" cy="457200"/>
          </a:xfrm>
          <a:prstGeom prst="roundRect">
            <a:avLst>
              <a:gd name="adj" fmla="val 10000"/>
            </a:avLst>
          </a:prstGeom>
          <a:solidFill>
            <a:srgbClr val="06343B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34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1874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OptiClass schedules the entire university,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every decision, and manages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process — on one platform.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21208" y="3749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let’s see this in action.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495</Words>
  <Application>Microsoft Office PowerPoint</Application>
  <PresentationFormat>Ekran Gösterisi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OptiClass</dc:title>
  <dc:subject>PptxGenJS Presentation</dc:subject>
  <dc:creator>Berkay &amp; Yusuf</dc:creator>
  <cp:lastModifiedBy>baba yog</cp:lastModifiedBy>
  <cp:revision>5</cp:revision>
  <dcterms:created xsi:type="dcterms:W3CDTF">2026-06-11T13:54:56Z</dcterms:created>
  <dcterms:modified xsi:type="dcterms:W3CDTF">2026-06-11T18:00:49Z</dcterms:modified>
</cp:coreProperties>
</file>